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327" r:id="rId3"/>
    <p:sldId id="328" r:id="rId4"/>
    <p:sldId id="329" r:id="rId5"/>
    <p:sldId id="331" r:id="rId6"/>
    <p:sldId id="330" r:id="rId7"/>
    <p:sldId id="332" r:id="rId8"/>
    <p:sldId id="333" r:id="rId9"/>
    <p:sldId id="334" r:id="rId10"/>
    <p:sldId id="335" r:id="rId1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0CBC0-7A67-44AE-8F12-DFBD3E6D405A}" v="624" dt="2024-04-28T18:23:54.955"/>
    <p1510:client id="{64A7EDAD-3A69-4364-BCB8-4B3B1E25D9F5}" v="348" dt="2024-04-28T21:50:23.525"/>
    <p1510:client id="{BB542A11-A35F-4D7A-94F2-240692B5FB08}" v="19" dt="2024-04-29T17:39:45.953"/>
    <p1510:client id="{BC61BB41-860E-4E5C-B04D-B0F8F0E785C9}" v="165" dt="2024-04-28T16:52:09.462"/>
    <p1510:client id="{ED91BEE2-987B-44DA-8338-DD0ECBEABC37}" v="6" dt="2024-04-29T15:59:20.780"/>
    <p1510:client id="{F937624C-76CC-4884-84AA-E3302A215AE5}" v="32" dt="2024-04-28T16:54:25.99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D0DD6-C928-9744-AAA4-FE86C0034BBA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F05BE-760D-3A45-A436-BE44CEE65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2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0903" y="173228"/>
            <a:ext cx="10750192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41449" y="765178"/>
            <a:ext cx="10750973" cy="53975"/>
          </a:xfrm>
          <a:custGeom>
            <a:avLst/>
            <a:gdLst/>
            <a:ahLst/>
            <a:cxnLst/>
            <a:rect l="l" t="t" r="r" b="b"/>
            <a:pathLst>
              <a:path w="8063230" h="53975">
                <a:moveTo>
                  <a:pt x="8062912" y="0"/>
                </a:moveTo>
                <a:lnTo>
                  <a:pt x="0" y="0"/>
                </a:lnTo>
                <a:lnTo>
                  <a:pt x="0" y="53975"/>
                </a:lnTo>
                <a:lnTo>
                  <a:pt x="8062912" y="53975"/>
                </a:lnTo>
                <a:lnTo>
                  <a:pt x="8062912" y="0"/>
                </a:lnTo>
                <a:close/>
              </a:path>
            </a:pathLst>
          </a:custGeom>
          <a:solidFill>
            <a:srgbClr val="BE1E3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1" y="765178"/>
            <a:ext cx="1344507" cy="53975"/>
          </a:xfrm>
          <a:custGeom>
            <a:avLst/>
            <a:gdLst/>
            <a:ahLst/>
            <a:cxnLst/>
            <a:rect l="l" t="t" r="r" b="b"/>
            <a:pathLst>
              <a:path w="1008380" h="53975">
                <a:moveTo>
                  <a:pt x="1008063" y="0"/>
                </a:moveTo>
                <a:lnTo>
                  <a:pt x="0" y="0"/>
                </a:lnTo>
                <a:lnTo>
                  <a:pt x="0" y="53975"/>
                </a:lnTo>
                <a:lnTo>
                  <a:pt x="1008063" y="53975"/>
                </a:lnTo>
                <a:lnTo>
                  <a:pt x="1008063" y="0"/>
                </a:lnTo>
                <a:close/>
              </a:path>
            </a:pathLst>
          </a:custGeom>
          <a:solidFill>
            <a:srgbClr val="786E6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2" y="6402390"/>
            <a:ext cx="9715500" cy="53975"/>
          </a:xfrm>
          <a:custGeom>
            <a:avLst/>
            <a:gdLst/>
            <a:ahLst/>
            <a:cxnLst/>
            <a:rect l="l" t="t" r="r" b="b"/>
            <a:pathLst>
              <a:path w="7286625" h="53975">
                <a:moveTo>
                  <a:pt x="7286625" y="0"/>
                </a:moveTo>
                <a:lnTo>
                  <a:pt x="0" y="0"/>
                </a:lnTo>
                <a:lnTo>
                  <a:pt x="0" y="53975"/>
                </a:lnTo>
                <a:lnTo>
                  <a:pt x="7286625" y="53975"/>
                </a:lnTo>
                <a:lnTo>
                  <a:pt x="7286625" y="0"/>
                </a:lnTo>
                <a:close/>
              </a:path>
            </a:pathLst>
          </a:custGeom>
          <a:solidFill>
            <a:srgbClr val="BE1E3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358" y="138683"/>
            <a:ext cx="11251287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9965" y="1215646"/>
            <a:ext cx="1077207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51385" y="6551888"/>
            <a:ext cx="2330027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 err="1"/>
              <a:t>Kaveti</a:t>
            </a:r>
            <a:r>
              <a:rPr lang="en-IN" spc="-25"/>
              <a:t> Pavan Kumar</a:t>
            </a:r>
            <a:endParaRPr lang="en-IN" spc="-1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1337" y="6591512"/>
            <a:ext cx="821267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52705" y="6585416"/>
            <a:ext cx="325967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/>
          </a:p>
        </p:txBody>
      </p:sp>
      <p:pic>
        <p:nvPicPr>
          <p:cNvPr id="1026" name="Picture 2" descr="Alumni and Corporate Relation | IIT Hyderabad">
            <a:extLst>
              <a:ext uri="{FF2B5EF4-FFF2-40B4-BE49-F238E27FC236}">
                <a16:creationId xmlns:a16="http://schemas.microsoft.com/office/drawing/2014/main" id="{1C3D1EF0-9C92-D229-750D-659D72F24F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039" y="6052473"/>
            <a:ext cx="2555959" cy="753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ewatlas.com/epfl-psa-peugeot-citreon-emotion-detector-safety/31328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340555.3353739" TargetMode="External"/><Relationship Id="rId2" Type="http://schemas.openxmlformats.org/officeDocument/2006/relationships/hyperlink" Target="https://doi.org/10.1016/j.jvcir.2018.12.03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measurement.2019.107049" TargetMode="External"/><Relationship Id="rId4" Type="http://schemas.openxmlformats.org/officeDocument/2006/relationships/hyperlink" Target="https://doi.org/10.1109/TITS.2020.3007357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91046"/>
            <a:ext cx="12191999" cy="76721"/>
          </a:xfrm>
          <a:custGeom>
            <a:avLst/>
            <a:gdLst/>
            <a:ahLst/>
            <a:cxnLst/>
            <a:rect l="l" t="t" r="r" b="b"/>
            <a:pathLst>
              <a:path w="9144000" h="53975">
                <a:moveTo>
                  <a:pt x="9144000" y="0"/>
                </a:moveTo>
                <a:lnTo>
                  <a:pt x="0" y="0"/>
                </a:lnTo>
                <a:lnTo>
                  <a:pt x="0" y="53975"/>
                </a:lnTo>
                <a:lnTo>
                  <a:pt x="9144000" y="53975"/>
                </a:lnTo>
                <a:lnTo>
                  <a:pt x="9144000" y="0"/>
                </a:lnTo>
                <a:close/>
              </a:path>
            </a:pathLst>
          </a:custGeom>
          <a:solidFill>
            <a:srgbClr val="BE1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83844" y="94067"/>
            <a:ext cx="11624311" cy="6096603"/>
            <a:chOff x="23700" y="301971"/>
            <a:chExt cx="8797290" cy="5851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220" y="452695"/>
              <a:ext cx="8594251" cy="45092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5504" y="3872815"/>
              <a:ext cx="8605520" cy="2280920"/>
            </a:xfrm>
            <a:custGeom>
              <a:avLst/>
              <a:gdLst/>
              <a:ahLst/>
              <a:cxnLst/>
              <a:rect l="l" t="t" r="r" b="b"/>
              <a:pathLst>
                <a:path w="8605520" h="2280920">
                  <a:moveTo>
                    <a:pt x="8604967" y="0"/>
                  </a:moveTo>
                  <a:lnTo>
                    <a:pt x="0" y="0"/>
                  </a:lnTo>
                  <a:lnTo>
                    <a:pt x="0" y="2280682"/>
                  </a:lnTo>
                  <a:lnTo>
                    <a:pt x="8604967" y="2280682"/>
                  </a:lnTo>
                  <a:lnTo>
                    <a:pt x="8604967" y="0"/>
                  </a:lnTo>
                  <a:close/>
                </a:path>
              </a:pathLst>
            </a:custGeom>
            <a:solidFill>
              <a:srgbClr val="A7E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0037" y="5944344"/>
              <a:ext cx="8550910" cy="209550"/>
            </a:xfrm>
            <a:custGeom>
              <a:avLst/>
              <a:gdLst/>
              <a:ahLst/>
              <a:cxnLst/>
              <a:rect l="l" t="t" r="r" b="b"/>
              <a:pathLst>
                <a:path w="8550910" h="209550">
                  <a:moveTo>
                    <a:pt x="8550433" y="0"/>
                  </a:moveTo>
                  <a:lnTo>
                    <a:pt x="0" y="0"/>
                  </a:lnTo>
                  <a:lnTo>
                    <a:pt x="0" y="209152"/>
                  </a:lnTo>
                  <a:lnTo>
                    <a:pt x="8550433" y="209152"/>
                  </a:lnTo>
                  <a:lnTo>
                    <a:pt x="8550433" y="0"/>
                  </a:lnTo>
                  <a:close/>
                </a:path>
              </a:pathLst>
            </a:custGeom>
            <a:solidFill>
              <a:srgbClr val="05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00" y="301971"/>
              <a:ext cx="1667978" cy="73313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623954" y="529338"/>
            <a:ext cx="641350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25"/>
              </a:lnSpc>
              <a:spcBef>
                <a:spcPts val="100"/>
              </a:spcBef>
            </a:pPr>
            <a:r>
              <a:rPr sz="700" b="1" spc="5">
                <a:solidFill>
                  <a:srgbClr val="00B050"/>
                </a:solidFill>
                <a:latin typeface="Arial"/>
                <a:cs typeface="Arial"/>
              </a:rPr>
              <a:t>D</a:t>
            </a:r>
            <a:r>
              <a:rPr sz="700" b="1" spc="10">
                <a:solidFill>
                  <a:srgbClr val="00B050"/>
                </a:solidFill>
                <a:latin typeface="Arial"/>
                <a:cs typeface="Arial"/>
              </a:rPr>
              <a:t>epa</a:t>
            </a:r>
            <a:r>
              <a:rPr sz="700" b="1">
                <a:solidFill>
                  <a:srgbClr val="00B050"/>
                </a:solidFill>
                <a:latin typeface="Arial"/>
                <a:cs typeface="Arial"/>
              </a:rPr>
              <a:t>rt</a:t>
            </a:r>
            <a:r>
              <a:rPr sz="700" b="1" spc="15">
                <a:solidFill>
                  <a:srgbClr val="00B050"/>
                </a:solidFill>
                <a:latin typeface="Arial"/>
                <a:cs typeface="Arial"/>
              </a:rPr>
              <a:t>m</a:t>
            </a:r>
            <a:r>
              <a:rPr sz="700" b="1" spc="10">
                <a:solidFill>
                  <a:srgbClr val="00B050"/>
                </a:solidFill>
                <a:latin typeface="Arial"/>
                <a:cs typeface="Arial"/>
              </a:rPr>
              <a:t>en</a:t>
            </a:r>
            <a:r>
              <a:rPr sz="700" b="1">
                <a:solidFill>
                  <a:srgbClr val="00B050"/>
                </a:solidFill>
                <a:latin typeface="Arial"/>
                <a:cs typeface="Arial"/>
              </a:rPr>
              <a:t>t</a:t>
            </a:r>
            <a:r>
              <a:rPr sz="700" b="1" spc="10">
                <a:solidFill>
                  <a:srgbClr val="00B050"/>
                </a:solidFill>
                <a:latin typeface="Arial"/>
                <a:cs typeface="Arial"/>
              </a:rPr>
              <a:t> o</a:t>
            </a:r>
            <a:r>
              <a:rPr sz="700" b="1">
                <a:solidFill>
                  <a:srgbClr val="00B050"/>
                </a:solidFill>
                <a:latin typeface="Arial"/>
                <a:cs typeface="Arial"/>
              </a:rPr>
              <a:t>f</a:t>
            </a:r>
            <a:endParaRPr sz="700">
              <a:latin typeface="Arial"/>
              <a:cs typeface="Arial"/>
            </a:endParaRPr>
          </a:p>
          <a:p>
            <a:pPr marL="19050">
              <a:lnSpc>
                <a:spcPts val="1065"/>
              </a:lnSpc>
            </a:pPr>
            <a:r>
              <a:rPr sz="900" b="1" spc="-5">
                <a:solidFill>
                  <a:srgbClr val="00B050"/>
                </a:solidFill>
                <a:latin typeface="Arial"/>
                <a:cs typeface="Arial"/>
              </a:rPr>
              <a:t>Biomedical</a:t>
            </a:r>
            <a:endParaRPr sz="900">
              <a:latin typeface="Arial"/>
              <a:cs typeface="Arial"/>
            </a:endParaRPr>
          </a:p>
          <a:p>
            <a:pPr marL="25400"/>
            <a:r>
              <a:rPr sz="800" b="1" spc="5">
                <a:solidFill>
                  <a:srgbClr val="00B050"/>
                </a:solidFill>
                <a:latin typeface="Arial"/>
                <a:cs typeface="Arial"/>
              </a:rPr>
              <a:t>Engineering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2930" y="3983078"/>
            <a:ext cx="11298756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>
              <a:spcBef>
                <a:spcPts val="100"/>
              </a:spcBef>
            </a:pPr>
            <a:r>
              <a:rPr lang="en-US" sz="2400" b="1"/>
              <a:t>Driver Emotion Recognition Using a Hybrid Convolutional and LSTM Neural Network</a:t>
            </a:r>
            <a:endParaRPr lang="en-US" sz="2400" b="1"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7502" y="6577076"/>
            <a:ext cx="6159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>
                <a:solidFill>
                  <a:srgbClr val="898989"/>
                </a:solidFill>
                <a:latin typeface="Arial MT"/>
                <a:cs typeface="Arial MT"/>
              </a:rPr>
              <a:t>17</a:t>
            </a:r>
            <a:r>
              <a:rPr sz="1200">
                <a:solidFill>
                  <a:srgbClr val="898989"/>
                </a:solidFill>
                <a:latin typeface="Arial MT"/>
                <a:cs typeface="Arial MT"/>
              </a:rPr>
              <a:t>.</a:t>
            </a:r>
            <a:r>
              <a:rPr sz="1200" spc="-5">
                <a:solidFill>
                  <a:srgbClr val="898989"/>
                </a:solidFill>
                <a:latin typeface="Arial MT"/>
                <a:cs typeface="Arial MT"/>
              </a:rPr>
              <a:t>01</a:t>
            </a:r>
            <a:r>
              <a:rPr sz="1200">
                <a:solidFill>
                  <a:srgbClr val="898989"/>
                </a:solidFill>
                <a:latin typeface="Arial MT"/>
                <a:cs typeface="Arial MT"/>
              </a:rPr>
              <a:t>.</a:t>
            </a:r>
            <a:r>
              <a:rPr sz="1200" spc="-5">
                <a:solidFill>
                  <a:srgbClr val="898989"/>
                </a:solidFill>
                <a:latin typeface="Arial MT"/>
                <a:cs typeface="Arial MT"/>
              </a:rPr>
              <a:t>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78455" y="6570980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>
                <a:solidFill>
                  <a:srgbClr val="898989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2930" y="4949163"/>
            <a:ext cx="3351946" cy="636072"/>
          </a:xfrm>
          <a:prstGeom prst="rect">
            <a:avLst/>
          </a:prstGeom>
        </p:spPr>
        <p:txBody>
          <a:bodyPr vert="horz" wrap="square" lIns="0" tIns="43180" rIns="0" bIns="0" rtlCol="0" anchor="t">
            <a:spAutoFit/>
          </a:bodyPr>
          <a:lstStyle/>
          <a:p>
            <a:pPr>
              <a:spcBef>
                <a:spcPts val="340"/>
              </a:spcBef>
            </a:pPr>
            <a:r>
              <a:rPr lang="en-US" b="1">
                <a:solidFill>
                  <a:srgbClr val="C00000"/>
                </a:solidFill>
                <a:latin typeface="Times New Roman"/>
                <a:cs typeface="Times New Roman"/>
              </a:rPr>
              <a:t>NAME </a:t>
            </a:r>
            <a:r>
              <a:rPr lang="en-US" b="1">
                <a:latin typeface="Times New Roman"/>
                <a:cs typeface="Times New Roman"/>
              </a:rPr>
              <a:t>Vaishnavi W</a:t>
            </a:r>
            <a:endParaRPr 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</a:pPr>
            <a:r>
              <a:rPr lang="en-US" b="1">
                <a:solidFill>
                  <a:srgbClr val="C00000"/>
                </a:solidFill>
                <a:latin typeface="Times New Roman"/>
                <a:cs typeface="Times New Roman"/>
              </a:rPr>
              <a:t>ROLL NO </a:t>
            </a: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AI20BTECH11025</a:t>
            </a:r>
            <a:endParaRPr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766C6F-8327-9677-12FD-ED8EE22A4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069" y="4949163"/>
            <a:ext cx="3581400" cy="795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Nagarajan Ganapathy</a:t>
            </a:r>
            <a:endParaRPr lang="en-US" sz="2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lang="en-US" sz="2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Supervisor</a:t>
            </a: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8A19CB74-8100-6340-1BF1-F983D0A2F831}"/>
              </a:ext>
            </a:extLst>
          </p:cNvPr>
          <p:cNvSpPr txBox="1"/>
          <p:nvPr/>
        </p:nvSpPr>
        <p:spPr>
          <a:xfrm>
            <a:off x="4058586" y="4949162"/>
            <a:ext cx="3351946" cy="636072"/>
          </a:xfrm>
          <a:prstGeom prst="rect">
            <a:avLst/>
          </a:prstGeom>
        </p:spPr>
        <p:txBody>
          <a:bodyPr vert="horz" wrap="square" lIns="0" tIns="43180" rIns="0" bIns="0" rtlCol="0" anchor="t">
            <a:spAutoFit/>
          </a:bodyPr>
          <a:lstStyle/>
          <a:p>
            <a:pPr>
              <a:spcBef>
                <a:spcPts val="340"/>
              </a:spcBef>
            </a:pPr>
            <a:r>
              <a:rPr lang="en-US" b="1">
                <a:solidFill>
                  <a:srgbClr val="C00000"/>
                </a:solidFill>
                <a:latin typeface="Times New Roman"/>
                <a:cs typeface="Times New Roman"/>
              </a:rPr>
              <a:t>NAME </a:t>
            </a: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Nishant</a:t>
            </a:r>
            <a:endParaRPr 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</a:pPr>
            <a:r>
              <a:rPr lang="en-US" b="1">
                <a:solidFill>
                  <a:srgbClr val="C00000"/>
                </a:solidFill>
                <a:latin typeface="Times New Roman"/>
                <a:cs typeface="Times New Roman"/>
              </a:rPr>
              <a:t>ROLL NO </a:t>
            </a: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BM22BTECH11013</a:t>
            </a:r>
            <a:endParaRPr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0C66C-ECCD-ECBD-5E28-8566A5CB4164}"/>
              </a:ext>
            </a:extLst>
          </p:cNvPr>
          <p:cNvSpPr txBox="1"/>
          <p:nvPr/>
        </p:nvSpPr>
        <p:spPr>
          <a:xfrm>
            <a:off x="522194" y="1194547"/>
            <a:ext cx="687817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 b="1"/>
              <a:t>Emerging Field</a:t>
            </a:r>
            <a:r>
              <a:rPr lang="en-US" sz="2200"/>
              <a:t>: Combines AI with advanced sensing technologies to enhance safety and driver well-being. </a:t>
            </a:r>
            <a:endParaRPr lang="en-US" sz="22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/>
              <a:t>Purpose</a:t>
            </a:r>
            <a:r>
              <a:rPr lang="en-US" sz="2200"/>
              <a:t>: Real-time identification of drivers’ emotional states to predict and prevent risky behaviors. </a:t>
            </a:r>
            <a:endParaRPr lang="en-US" sz="22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/>
              <a:t>Technological Advances</a:t>
            </a:r>
            <a:r>
              <a:rPr lang="en-US" sz="2200"/>
              <a:t>: </a:t>
            </a:r>
            <a:endParaRPr lang="en-US" sz="2200">
              <a:cs typeface="Calibri"/>
            </a:endParaRPr>
          </a:p>
          <a:p>
            <a:pPr lvl="1"/>
            <a:r>
              <a:rPr lang="en-US" sz="2200"/>
              <a:t>Utilizes physiological signals (ECG) and visual data (video). </a:t>
            </a:r>
            <a:endParaRPr lang="en-US" sz="2200">
              <a:cs typeface="Calibri"/>
            </a:endParaRPr>
          </a:p>
          <a:p>
            <a:pPr lvl="1"/>
            <a:r>
              <a:rPr lang="en-US" sz="2200"/>
              <a:t>Simultaneous processing for improved detection accuracy. </a:t>
            </a:r>
            <a:endParaRPr lang="en-US" sz="22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/>
              <a:t>Project Goal</a:t>
            </a:r>
            <a:r>
              <a:rPr lang="en-US" sz="2200"/>
              <a:t>: Develop a hybrid CNN-LSTM model to precisely recognize emotions in varied driving conditions. </a:t>
            </a:r>
            <a:endParaRPr lang="en-US" sz="22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/>
              <a:t>Impact</a:t>
            </a:r>
            <a:r>
              <a:rPr lang="en-US" sz="2200"/>
              <a:t>: Potential enhancements in adaptive vehicle control systems, increasing overall driving safety.</a:t>
            </a:r>
            <a:endParaRPr lang="en-US" sz="2200">
              <a:cs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FD29AF-0DAC-4E56-163D-8EDD594677C8}"/>
              </a:ext>
            </a:extLst>
          </p:cNvPr>
          <p:cNvGrpSpPr/>
          <p:nvPr/>
        </p:nvGrpSpPr>
        <p:grpSpPr>
          <a:xfrm>
            <a:off x="7407088" y="1388582"/>
            <a:ext cx="4041759" cy="4307890"/>
            <a:chOff x="7451911" y="1388582"/>
            <a:chExt cx="3044436" cy="2972434"/>
          </a:xfrm>
        </p:grpSpPr>
        <p:pic>
          <p:nvPicPr>
            <p:cNvPr id="5" name="Picture 4" descr="Tired? Angry? Your car knows how you feel">
              <a:extLst>
                <a:ext uri="{FF2B5EF4-FFF2-40B4-BE49-F238E27FC236}">
                  <a16:creationId xmlns:a16="http://schemas.microsoft.com/office/drawing/2014/main" id="{636B3943-E78B-CF0D-489F-5DAB2219A5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5280" t="-433" r="744" b="866"/>
            <a:stretch/>
          </p:blipFill>
          <p:spPr>
            <a:xfrm>
              <a:off x="7452842" y="1388582"/>
              <a:ext cx="3043505" cy="2702511"/>
            </a:xfrm>
            <a:prstGeom prst="rect">
              <a:avLst/>
            </a:prstGeom>
          </p:spPr>
        </p:pic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02BAE046-52BC-2EDB-5C96-C4E2367E4799}"/>
                </a:ext>
              </a:extLst>
            </p:cNvPr>
            <p:cNvSpPr txBox="1"/>
            <p:nvPr/>
          </p:nvSpPr>
          <p:spPr>
            <a:xfrm>
              <a:off x="7451911" y="4148651"/>
              <a:ext cx="2743199" cy="21236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>
                  <a:hlinkClick r:id="rId3"/>
                </a:rPr>
                <a:t>🔗 Image Source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390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FBF467-0719-AB15-4C39-4F8E8C0E8863}"/>
              </a:ext>
            </a:extLst>
          </p:cNvPr>
          <p:cNvCxnSpPr>
            <a:cxnSpLocks/>
          </p:cNvCxnSpPr>
          <p:nvPr/>
        </p:nvCxnSpPr>
        <p:spPr>
          <a:xfrm>
            <a:off x="6030950" y="828979"/>
            <a:ext cx="39461" cy="554044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B7A0EB-9F25-95DF-3B71-02B686646A31}"/>
              </a:ext>
            </a:extLst>
          </p:cNvPr>
          <p:cNvCxnSpPr>
            <a:cxnSpLocks/>
          </p:cNvCxnSpPr>
          <p:nvPr/>
        </p:nvCxnSpPr>
        <p:spPr>
          <a:xfrm>
            <a:off x="0" y="3478192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F37C06-B364-0CD5-AF75-E0F124D3A263}"/>
              </a:ext>
            </a:extLst>
          </p:cNvPr>
          <p:cNvSpPr txBox="1"/>
          <p:nvPr/>
        </p:nvSpPr>
        <p:spPr>
          <a:xfrm>
            <a:off x="496349" y="3628464"/>
            <a:ext cx="4225003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Enhanced Facial Emotion Recognition:</a:t>
            </a:r>
            <a:endParaRPr lang="en-US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10A8C-2409-5C16-999F-176197D21368}"/>
              </a:ext>
            </a:extLst>
          </p:cNvPr>
          <p:cNvSpPr txBox="1"/>
          <p:nvPr/>
        </p:nvSpPr>
        <p:spPr>
          <a:xfrm>
            <a:off x="103779" y="4145211"/>
            <a:ext cx="5698376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  <a:hlinkClick r:id="rId2"/>
              </a:rPr>
              <a:t>M. Hu et al., 2019</a:t>
            </a:r>
            <a:r>
              <a:rPr lang="en-US">
                <a:ea typeface="+mn-lt"/>
                <a:cs typeface="+mn-lt"/>
              </a:rPr>
              <a:t> - Developed a method using local enhanced motion history images combined with CNN-CTSLSTM networks. The detected landmark-based method fine-tunes the facial emotion recognition method to </a:t>
            </a:r>
            <a:r>
              <a:rPr lang="en-US" err="1">
                <a:ea typeface="+mn-lt"/>
                <a:cs typeface="+mn-lt"/>
              </a:rPr>
              <a:t>sharpenness</a:t>
            </a:r>
            <a:r>
              <a:rPr lang="en-US">
                <a:ea typeface="+mn-lt"/>
                <a:cs typeface="+mn-lt"/>
              </a:rPr>
              <a:t> in detected facial landmarks by improving the local value difference image calculations for more accurate emotion detection.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4BA8BC-EC22-5878-43A7-309A87FF03DD}"/>
              </a:ext>
            </a:extLst>
          </p:cNvPr>
          <p:cNvSpPr txBox="1"/>
          <p:nvPr/>
        </p:nvSpPr>
        <p:spPr>
          <a:xfrm>
            <a:off x="6320854" y="3657401"/>
            <a:ext cx="4991303" cy="126188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Continuous Emotion Recognition Techniques:</a:t>
            </a:r>
            <a:endParaRPr lang="en-US">
              <a:ea typeface="+mn-lt"/>
              <a:cs typeface="+mn-lt"/>
            </a:endParaRPr>
          </a:p>
          <a:p>
            <a:br>
              <a:rPr lang="en-US"/>
            </a:br>
            <a:endParaRPr lang="en-US"/>
          </a:p>
          <a:p>
            <a:endParaRPr lang="en-US" sz="200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C213D-5EA8-D4F9-4EA4-2EF177DBBA9C}"/>
              </a:ext>
            </a:extLst>
          </p:cNvPr>
          <p:cNvSpPr txBox="1"/>
          <p:nvPr/>
        </p:nvSpPr>
        <p:spPr>
          <a:xfrm>
            <a:off x="6456601" y="4145213"/>
            <a:ext cx="521396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  <a:hlinkClick r:id="rId3"/>
              </a:rPr>
              <a:t>S. Wu et al., 2019</a:t>
            </a:r>
            <a:r>
              <a:rPr lang="en-US">
                <a:ea typeface="+mn-lt"/>
                <a:cs typeface="+mn-lt"/>
              </a:rPr>
              <a:t> - Investigated the fusion of facial expressions, head pose, and eye gaze for continuous emotion recognition in videos. Therefore, this work furthers the potential of both geometry-based and appearance-based methods to provide comprehensive data that significantly boosts emotion recognition systems.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F9F8C-7271-7D05-113E-82BCFA4DFB57}"/>
              </a:ext>
            </a:extLst>
          </p:cNvPr>
          <p:cNvSpPr txBox="1"/>
          <p:nvPr/>
        </p:nvSpPr>
        <p:spPr>
          <a:xfrm>
            <a:off x="380602" y="908413"/>
            <a:ext cx="3911199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Advanced Neural Network Models: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A77D66-9F0D-83D8-2037-C43D14356B65}"/>
              </a:ext>
            </a:extLst>
          </p:cNvPr>
          <p:cNvSpPr txBox="1"/>
          <p:nvPr/>
        </p:nvSpPr>
        <p:spPr>
          <a:xfrm>
            <a:off x="105295" y="1454097"/>
            <a:ext cx="586841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  <a:hlinkClick r:id="rId4"/>
              </a:rPr>
              <a:t>Guanglong Du et al., 2021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- This study introduced a convolutional bidirectional LSTM network that utilizes both facial geometry and ECG signals. This approach holds a lot of potential in accurately recognizing the emotions of drivers; an aggregate of these results confirms the validity of integrating both visual and physiological data.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1EDDC9-1818-F0B7-74A6-054F0BD2DECA}"/>
              </a:ext>
            </a:extLst>
          </p:cNvPr>
          <p:cNvSpPr txBox="1"/>
          <p:nvPr/>
        </p:nvSpPr>
        <p:spPr>
          <a:xfrm>
            <a:off x="6293336" y="937349"/>
            <a:ext cx="4891211" cy="126188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Probability and Learning-Based Approaches:</a:t>
            </a:r>
            <a:endParaRPr lang="en-US">
              <a:ea typeface="+mn-lt"/>
              <a:cs typeface="+mn-lt"/>
            </a:endParaRPr>
          </a:p>
          <a:p>
            <a:br>
              <a:rPr lang="en-US"/>
            </a:br>
            <a:endParaRPr lang="en-US"/>
          </a:p>
          <a:p>
            <a:endParaRPr lang="en-US" sz="2000" b="1"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4DFF9D-DCF4-D07B-0C90-B00547B311C8}"/>
              </a:ext>
            </a:extLst>
          </p:cNvPr>
          <p:cNvSpPr txBox="1"/>
          <p:nvPr/>
        </p:nvSpPr>
        <p:spPr>
          <a:xfrm>
            <a:off x="6288656" y="1454096"/>
            <a:ext cx="502346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  <a:hlinkClick r:id="rId5"/>
              </a:rPr>
              <a:t>D. Jiang et al., 2020</a:t>
            </a:r>
            <a:r>
              <a:rPr lang="en-US">
                <a:ea typeface="+mn-lt"/>
                <a:cs typeface="+mn-lt"/>
              </a:rPr>
              <a:t> - Explored the advance classification algorithms, for emotion recognition, emphasizing the naturalness, and convenience of camera-based methods during interactive scenarios, such as driving, enhancing user experience and accuracy.</a:t>
            </a:r>
          </a:p>
          <a:p>
            <a:pPr marL="285750" indent="-285750">
              <a:buFont typeface="Arial"/>
              <a:buChar char="•"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443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DD332-5D4F-076B-F7FC-256FCEC78AD0}"/>
              </a:ext>
            </a:extLst>
          </p:cNvPr>
          <p:cNvSpPr txBox="1"/>
          <p:nvPr/>
        </p:nvSpPr>
        <p:spPr>
          <a:xfrm>
            <a:off x="286871" y="1037665"/>
            <a:ext cx="1161825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02060"/>
                </a:solidFill>
              </a:rPr>
              <a:t>Aim: </a:t>
            </a:r>
            <a:endParaRPr lang="en-US" sz="2800">
              <a:solidFill>
                <a:srgbClr val="002060"/>
              </a:solidFill>
              <a:cs typeface="Calibri"/>
            </a:endParaRPr>
          </a:p>
          <a:p>
            <a:r>
              <a:rPr lang="en-US" sz="2000"/>
              <a:t>Developing an advanced driver emotion detection system, using a hybrid approach that combines CNNs and LSTMs, which aims at improving the safety features of the driver assistance systems through real-time emotion recognition.</a:t>
            </a:r>
            <a:endParaRPr lang="en-US" sz="200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904D0-C91C-3AF0-822F-4895E851C939}"/>
              </a:ext>
            </a:extLst>
          </p:cNvPr>
          <p:cNvSpPr txBox="1"/>
          <p:nvPr/>
        </p:nvSpPr>
        <p:spPr>
          <a:xfrm>
            <a:off x="286871" y="2774576"/>
            <a:ext cx="1131569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02060"/>
                </a:solidFill>
              </a:rPr>
              <a:t>Objectives</a:t>
            </a:r>
            <a:r>
              <a:rPr lang="en-US" sz="2800">
                <a:solidFill>
                  <a:srgbClr val="002060"/>
                </a:solidFill>
              </a:rPr>
              <a:t>:</a:t>
            </a:r>
            <a:r>
              <a:rPr lang="en-US" sz="2000">
                <a:solidFill>
                  <a:srgbClr val="002060"/>
                </a:solidFill>
              </a:rPr>
              <a:t> 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/>
              <a:t>Integrate Multimodal Data:</a:t>
            </a:r>
            <a:r>
              <a:rPr lang="en-US" sz="2000"/>
              <a:t> Utilize video and ECG signals to efficiently detect driver emotions. </a:t>
            </a:r>
            <a:endParaRPr lang="en-US" sz="20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/>
              <a:t>Enhance Accuracy:</a:t>
            </a:r>
            <a:r>
              <a:rPr lang="en-US" sz="2000"/>
              <a:t> Applying CNNs and LSTMs for video and ECG data to improve emotion classification accuracy. </a:t>
            </a:r>
          </a:p>
          <a:p>
            <a:pPr marL="285750" indent="-285750">
              <a:buFont typeface="Arial"/>
              <a:buChar char="•"/>
            </a:pPr>
            <a:r>
              <a:rPr lang="en-US" sz="2000" b="1"/>
              <a:t>Evaluate Performance:</a:t>
            </a:r>
            <a:r>
              <a:rPr lang="en-US" sz="2000"/>
              <a:t> Assess model effectiveness using accuracy, precision, recall, and F1-score; compare with single-modality models. </a:t>
            </a:r>
          </a:p>
          <a:p>
            <a:pPr marL="285750" indent="-285750">
              <a:buFont typeface="Arial"/>
              <a:buChar char="•"/>
            </a:pPr>
            <a:r>
              <a:rPr lang="en-US" sz="2000" b="1"/>
              <a:t>Facilitate Real-Time Implementation: </a:t>
            </a:r>
            <a:r>
              <a:rPr lang="en-US" sz="2000"/>
              <a:t>Designing for real-time processing on edge devices for vehicle integration.</a:t>
            </a: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76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pic>
        <p:nvPicPr>
          <p:cNvPr id="4" name="Picture 3" descr="A diagram of a complex process&#10;&#10;Description automatically generated">
            <a:extLst>
              <a:ext uri="{FF2B5EF4-FFF2-40B4-BE49-F238E27FC236}">
                <a16:creationId xmlns:a16="http://schemas.microsoft.com/office/drawing/2014/main" id="{3DF091A9-DD8E-28EA-543C-457007CDE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29" b="1336"/>
          <a:stretch/>
        </p:blipFill>
        <p:spPr>
          <a:xfrm>
            <a:off x="1946038" y="978694"/>
            <a:ext cx="7656978" cy="528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9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C639A-D478-29E5-DFF4-2A4AF94F9500}"/>
              </a:ext>
            </a:extLst>
          </p:cNvPr>
          <p:cNvSpPr txBox="1"/>
          <p:nvPr/>
        </p:nvSpPr>
        <p:spPr>
          <a:xfrm>
            <a:off x="275665" y="1037665"/>
            <a:ext cx="6934484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/>
              <a:t>Data Collection:</a:t>
            </a:r>
            <a:r>
              <a:rPr lang="en-US" sz="1600"/>
              <a:t> </a:t>
            </a:r>
            <a:endParaRPr lang="en-US" sz="1600">
              <a:cs typeface="Calibri"/>
            </a:endParaRPr>
          </a:p>
          <a:p>
            <a:pPr lvl="1"/>
            <a:r>
              <a:rPr lang="en-US" sz="1600"/>
              <a:t>Subjects: 10 male subjects under simulated driving conditions. </a:t>
            </a:r>
            <a:endParaRPr lang="en-US" sz="1600">
              <a:cs typeface="Calibri"/>
            </a:endParaRPr>
          </a:p>
          <a:p>
            <a:pPr lvl="1"/>
            <a:r>
              <a:rPr lang="en-US" sz="1600"/>
              <a:t>Data Types: Video clips and ECG signals for four emotional states: Baseline, Cognitive, Emotional, Normal.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/>
              <a:t>Data Preprocessing:</a:t>
            </a:r>
            <a:r>
              <a:rPr lang="en-US" sz="1600"/>
              <a:t> </a:t>
            </a:r>
            <a:endParaRPr lang="en-US" sz="1600">
              <a:cs typeface="Calibri"/>
            </a:endParaRPr>
          </a:p>
          <a:p>
            <a:pPr lvl="1"/>
            <a:r>
              <a:rPr lang="en-US" sz="1600"/>
              <a:t>Video: Frames converted to grayscale and resized to 240x240 pixels. ECG: Noise filtering and feature extraction using bandpass filters and </a:t>
            </a:r>
            <a:r>
              <a:rPr lang="en-US" sz="1600" err="1"/>
              <a:t>biosppy</a:t>
            </a:r>
            <a:r>
              <a:rPr lang="en-US" sz="1600"/>
              <a:t> library.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/>
              <a:t>Feature Extraction</a:t>
            </a:r>
            <a:r>
              <a:rPr lang="en-US" sz="1600"/>
              <a:t>: </a:t>
            </a:r>
            <a:endParaRPr lang="en-US" sz="1600">
              <a:cs typeface="Calibri"/>
            </a:endParaRPr>
          </a:p>
          <a:p>
            <a:pPr lvl="1"/>
            <a:r>
              <a:rPr lang="en-US" sz="1600"/>
              <a:t>Video: Facial features via Gabor wavelets. ECG: Time and frequency domain features using Welch’s method.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/>
              <a:t>Model Architecture</a:t>
            </a:r>
            <a:r>
              <a:rPr lang="en-US" sz="1600"/>
              <a:t>: </a:t>
            </a:r>
            <a:endParaRPr lang="en-US" sz="1600">
              <a:cs typeface="Calibri"/>
            </a:endParaRPr>
          </a:p>
          <a:p>
            <a:pPr lvl="1"/>
            <a:r>
              <a:rPr lang="en-US" sz="1600"/>
              <a:t>CNN for Video: Time Distributed CNNs process spatial features. </a:t>
            </a:r>
            <a:r>
              <a:rPr lang="en-US" sz="1600" err="1"/>
              <a:t>BiLSTM</a:t>
            </a:r>
            <a:r>
              <a:rPr lang="en-US" sz="1600"/>
              <a:t> for ECG: Captures temporal patterns from ECG data.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/>
              <a:t>Integration and Classification</a:t>
            </a:r>
            <a:r>
              <a:rPr lang="en-US" sz="1600"/>
              <a:t>: </a:t>
            </a:r>
            <a:endParaRPr lang="en-US" sz="1600">
              <a:cs typeface="Calibri"/>
            </a:endParaRPr>
          </a:p>
          <a:p>
            <a:pPr lvl="1"/>
            <a:r>
              <a:rPr lang="en-US" sz="1600"/>
              <a:t>Fusion: Concatenate CNN and </a:t>
            </a:r>
            <a:r>
              <a:rPr lang="en-US" sz="1600" err="1"/>
              <a:t>BiLSTM</a:t>
            </a:r>
            <a:r>
              <a:rPr lang="en-US" sz="1600"/>
              <a:t> outputs. Classification: Dense layer with </a:t>
            </a:r>
            <a:r>
              <a:rPr lang="en-US" sz="1600" err="1"/>
              <a:t>softmax</a:t>
            </a:r>
            <a:r>
              <a:rPr lang="en-US" sz="1600"/>
              <a:t> for emotional state classification.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/>
              <a:t>Model Training and Validation</a:t>
            </a:r>
            <a:r>
              <a:rPr lang="en-US" sz="1600"/>
              <a:t>: </a:t>
            </a:r>
            <a:endParaRPr lang="en-US" sz="1600">
              <a:cs typeface="Calibri"/>
            </a:endParaRPr>
          </a:p>
          <a:p>
            <a:pPr lvl="1"/>
            <a:r>
              <a:rPr lang="en-US" sz="1600"/>
              <a:t>Parameters: Adam optimizer, cross-entropy loss. Metrics: Accuracy, precision, recall, F1-scores; validated using confusion matrices.</a:t>
            </a:r>
            <a:endParaRPr lang="en-US" sz="1600">
              <a:cs typeface="Calibri"/>
            </a:endParaRPr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3DF0D1FE-8BB8-85AB-A7C4-F42C7738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762" y="3222172"/>
            <a:ext cx="2157936" cy="2699657"/>
          </a:xfrm>
          <a:prstGeom prst="rect">
            <a:avLst/>
          </a:prstGeom>
        </p:spPr>
      </p:pic>
      <p:pic>
        <p:nvPicPr>
          <p:cNvPr id="7" name="Picture 6" descr="A person sitting in a chair with a seat belt&#10;&#10;Description automatically generated">
            <a:extLst>
              <a:ext uri="{FF2B5EF4-FFF2-40B4-BE49-F238E27FC236}">
                <a16:creationId xmlns:a16="http://schemas.microsoft.com/office/drawing/2014/main" id="{ED7AF605-2018-37CB-EA3A-8EC6BC6B4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267" y="1041226"/>
            <a:ext cx="2138963" cy="2042273"/>
          </a:xfrm>
          <a:prstGeom prst="rect">
            <a:avLst/>
          </a:prstGeom>
        </p:spPr>
      </p:pic>
      <p:pic>
        <p:nvPicPr>
          <p:cNvPr id="6" name="Picture 5" descr="A collage of images of different sizes and shapes&#10;&#10;Description automatically generated">
            <a:extLst>
              <a:ext uri="{FF2B5EF4-FFF2-40B4-BE49-F238E27FC236}">
                <a16:creationId xmlns:a16="http://schemas.microsoft.com/office/drawing/2014/main" id="{246A37F2-7BF4-554D-071A-158F8490B4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179" r="49832" b="205"/>
          <a:stretch/>
        </p:blipFill>
        <p:spPr>
          <a:xfrm>
            <a:off x="7467598" y="3227278"/>
            <a:ext cx="2156718" cy="269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5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Picture 2" descr="A white paper with black text and numbers&#10;&#10;Description automatically generated">
            <a:extLst>
              <a:ext uri="{FF2B5EF4-FFF2-40B4-BE49-F238E27FC236}">
                <a16:creationId xmlns:a16="http://schemas.microsoft.com/office/drawing/2014/main" id="{2AC22C6B-C1F1-3AA1-232B-78158B1D6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" r="1675" b="-479"/>
          <a:stretch/>
        </p:blipFill>
        <p:spPr>
          <a:xfrm>
            <a:off x="982027" y="1240631"/>
            <a:ext cx="6421149" cy="2316992"/>
          </a:xfrm>
          <a:prstGeom prst="rect">
            <a:avLst/>
          </a:prstGeom>
        </p:spPr>
      </p:pic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F79A567-424D-8436-8A24-E924A8A0C0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087" r="-340" b="-606"/>
          <a:stretch/>
        </p:blipFill>
        <p:spPr>
          <a:xfrm>
            <a:off x="985837" y="4157662"/>
            <a:ext cx="6429480" cy="1769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FD6CBB-CE5A-DB01-9F20-2098424BDD0C}"/>
              </a:ext>
            </a:extLst>
          </p:cNvPr>
          <p:cNvSpPr txBox="1"/>
          <p:nvPr/>
        </p:nvSpPr>
        <p:spPr>
          <a:xfrm>
            <a:off x="7843241" y="2041922"/>
            <a:ext cx="291703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cs typeface="Calibri"/>
              </a:rPr>
              <a:t>ECG Based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Calibri"/>
              </a:rPr>
              <a:t>Train Accuracy – 61%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Calibri"/>
              </a:rPr>
              <a:t>Test Accuracy – 59%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CB7BA-F9BC-4D8D-8D76-F560F52F24B1}"/>
              </a:ext>
            </a:extLst>
          </p:cNvPr>
          <p:cNvSpPr txBox="1"/>
          <p:nvPr/>
        </p:nvSpPr>
        <p:spPr>
          <a:xfrm>
            <a:off x="7962303" y="4530327"/>
            <a:ext cx="291703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cs typeface="Calibri"/>
              </a:rPr>
              <a:t>Video Based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Calibri"/>
              </a:rPr>
              <a:t>Train Accuracy – 97%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Calibri"/>
              </a:rPr>
              <a:t>Test Accuracy – 78%</a:t>
            </a:r>
          </a:p>
        </p:txBody>
      </p:sp>
    </p:spTree>
    <p:extLst>
      <p:ext uri="{BB962C8B-B14F-4D97-AF65-F5344CB8AC3E}">
        <p14:creationId xmlns:p14="http://schemas.microsoft.com/office/powerpoint/2010/main" val="71961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D7F0F-4A46-8049-5EEE-1B8B1159FE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63" b="1435"/>
          <a:stretch/>
        </p:blipFill>
        <p:spPr>
          <a:xfrm>
            <a:off x="1307306" y="2359819"/>
            <a:ext cx="6886677" cy="24597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AD39-8E24-7945-A5AC-F22459CB1C27}"/>
              </a:ext>
            </a:extLst>
          </p:cNvPr>
          <p:cNvSpPr txBox="1"/>
          <p:nvPr/>
        </p:nvSpPr>
        <p:spPr>
          <a:xfrm>
            <a:off x="8450459" y="2922983"/>
            <a:ext cx="291703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cs typeface="Calibri"/>
              </a:rPr>
              <a:t>Integration of ECG and Video 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Calibri"/>
              </a:rPr>
              <a:t>Train Accuracy – 98.4%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Calibri"/>
              </a:rPr>
              <a:t>Test Accuracy – 84.3%</a:t>
            </a:r>
          </a:p>
        </p:txBody>
      </p:sp>
    </p:spTree>
    <p:extLst>
      <p:ext uri="{BB962C8B-B14F-4D97-AF65-F5344CB8AC3E}">
        <p14:creationId xmlns:p14="http://schemas.microsoft.com/office/powerpoint/2010/main" val="109409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2714D4-C4A7-46BC-B1C9-45D7FF5E6B77}"/>
              </a:ext>
            </a:extLst>
          </p:cNvPr>
          <p:cNvSpPr txBox="1"/>
          <p:nvPr/>
        </p:nvSpPr>
        <p:spPr>
          <a:xfrm>
            <a:off x="438151" y="1176337"/>
            <a:ext cx="1110138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Our experiments show that relying solely on either video or ECG data for emotion detection yielded limited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While the ECG-based model performed well for baseline and emotional states, it struggled with distinguishing between other emotions, possibly due to overlapping signal patterns.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Similarly, the video-based model faced difficulty detecting certain emotions due to subtle face expressions.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However, integrating video data with ECG signals through multimodal fusion led to enhanced performance. It underscores the effectiveness of combining modalities for more robust emotion detection.</a:t>
            </a:r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902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01F02-542F-B00A-DA24-0D2DAF0929EE}"/>
              </a:ext>
            </a:extLst>
          </p:cNvPr>
          <p:cNvSpPr txBox="1"/>
          <p:nvPr/>
        </p:nvSpPr>
        <p:spPr>
          <a:xfrm>
            <a:off x="422476" y="1165185"/>
            <a:ext cx="1121201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err="1">
                <a:ea typeface="+mn-lt"/>
                <a:cs typeface="+mn-lt"/>
              </a:rPr>
              <a:t>Guanglong</a:t>
            </a:r>
            <a:r>
              <a:rPr lang="en-US">
                <a:ea typeface="+mn-lt"/>
                <a:cs typeface="+mn-lt"/>
              </a:rPr>
              <a:t> Du, </a:t>
            </a:r>
            <a:r>
              <a:rPr lang="en-US" err="1">
                <a:ea typeface="+mn-lt"/>
                <a:cs typeface="+mn-lt"/>
              </a:rPr>
              <a:t>Zhiyao</a:t>
            </a:r>
            <a:r>
              <a:rPr lang="en-US">
                <a:ea typeface="+mn-lt"/>
                <a:cs typeface="+mn-lt"/>
              </a:rPr>
              <a:t> Wang, Boyu Gao, Shahid Mumtaz, </a:t>
            </a:r>
            <a:r>
              <a:rPr lang="en-US" err="1">
                <a:ea typeface="+mn-lt"/>
                <a:cs typeface="+mn-lt"/>
              </a:rPr>
              <a:t>Khamael</a:t>
            </a:r>
            <a:r>
              <a:rPr lang="en-US">
                <a:ea typeface="+mn-lt"/>
                <a:cs typeface="+mn-lt"/>
              </a:rPr>
              <a:t> M. </a:t>
            </a:r>
            <a:r>
              <a:rPr lang="en-US" err="1">
                <a:ea typeface="+mn-lt"/>
                <a:cs typeface="+mn-lt"/>
              </a:rPr>
              <a:t>Abualnaja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Cuifeng</a:t>
            </a:r>
            <a:r>
              <a:rPr lang="en-US">
                <a:ea typeface="+mn-lt"/>
                <a:cs typeface="+mn-lt"/>
              </a:rPr>
              <a:t> Du, "A Convolution Bidirectional Long Short-Term Memory Neural Network for Driver Emotion Recognition," IEEE Transactions on Intelligent Transportation Systems, vol. 22, no. 7, pp. 4570-4578, July 2021 .</a:t>
            </a:r>
            <a:endParaRPr lang="en-US"/>
          </a:p>
          <a:p>
            <a:pPr marL="342900" indent="-342900">
              <a:buFontTx/>
              <a:buAutoNum type="arabicPeriod"/>
            </a:pPr>
            <a:r>
              <a:rPr lang="en-US">
                <a:ea typeface="+mn-lt"/>
                <a:cs typeface="+mn-lt"/>
              </a:rPr>
              <a:t>Min Hu, Haowen Wang, Xiaohua Wang, Juan Yang, </a:t>
            </a:r>
            <a:r>
              <a:rPr lang="en-US" err="1">
                <a:ea typeface="+mn-lt"/>
                <a:cs typeface="+mn-lt"/>
              </a:rPr>
              <a:t>Ronggui</a:t>
            </a:r>
            <a:r>
              <a:rPr lang="en-US">
                <a:ea typeface="+mn-lt"/>
                <a:cs typeface="+mn-lt"/>
              </a:rPr>
              <a:t> Wang, "Video facial emotion recognition based on local enhanced motion history image and CNN-CTSLSTM networks," Journal of Visual Communication and Image Representation, vol. 59, pp. 176–185, 2019 .</a:t>
            </a:r>
            <a:endParaRPr lang="en-US"/>
          </a:p>
          <a:p>
            <a:pPr marL="342900" indent="-342900">
              <a:buFontTx/>
              <a:buAutoNum type="arabicPeriod"/>
            </a:pPr>
            <a:r>
              <a:rPr lang="en-US" err="1">
                <a:ea typeface="+mn-lt"/>
                <a:cs typeface="+mn-lt"/>
              </a:rPr>
              <a:t>Suowei</a:t>
            </a:r>
            <a:r>
              <a:rPr lang="en-US">
                <a:ea typeface="+mn-lt"/>
                <a:cs typeface="+mn-lt"/>
              </a:rPr>
              <a:t> Wu, </a:t>
            </a:r>
            <a:r>
              <a:rPr lang="en-US" err="1">
                <a:ea typeface="+mn-lt"/>
                <a:cs typeface="+mn-lt"/>
              </a:rPr>
              <a:t>Zhengyin</a:t>
            </a:r>
            <a:r>
              <a:rPr lang="en-US">
                <a:ea typeface="+mn-lt"/>
                <a:cs typeface="+mn-lt"/>
              </a:rPr>
              <a:t> Du, </a:t>
            </a:r>
            <a:r>
              <a:rPr lang="en-US" err="1">
                <a:ea typeface="+mn-lt"/>
                <a:cs typeface="+mn-lt"/>
              </a:rPr>
              <a:t>Weixin</a:t>
            </a:r>
            <a:r>
              <a:rPr lang="en-US">
                <a:ea typeface="+mn-lt"/>
                <a:cs typeface="+mn-lt"/>
              </a:rPr>
              <a:t> Li, Di Huang, </a:t>
            </a:r>
            <a:r>
              <a:rPr lang="en-US" err="1">
                <a:ea typeface="+mn-lt"/>
                <a:cs typeface="+mn-lt"/>
              </a:rPr>
              <a:t>Yunhong</a:t>
            </a:r>
            <a:r>
              <a:rPr lang="en-US">
                <a:ea typeface="+mn-lt"/>
                <a:cs typeface="+mn-lt"/>
              </a:rPr>
              <a:t> Wang, "Continuous Emotion Recognition in Videos by Fusing Facial Expression, Head Pose and Eye Gaze," ICMI '19, October 14–18, 2019, Suzhou, China, ACM ISBN 978-1-4503-6860-5/19/10 .</a:t>
            </a:r>
            <a:endParaRPr lang="en-US"/>
          </a:p>
          <a:p>
            <a:pPr marL="342900" indent="-342900">
              <a:buAutoNum type="arabicPeriod"/>
            </a:pPr>
            <a:r>
              <a:rPr lang="en-US" err="1">
                <a:cs typeface="Calibri"/>
              </a:rPr>
              <a:t>Dazhi</a:t>
            </a:r>
            <a:r>
              <a:rPr lang="en-US">
                <a:cs typeface="Calibri"/>
              </a:rPr>
              <a:t> Jiang, </a:t>
            </a:r>
            <a:r>
              <a:rPr lang="en-US" err="1">
                <a:cs typeface="Calibri"/>
              </a:rPr>
              <a:t>Kaichao</a:t>
            </a:r>
            <a:r>
              <a:rPr lang="en-US">
                <a:cs typeface="Calibri"/>
              </a:rPr>
              <a:t> Wu, </a:t>
            </a:r>
            <a:r>
              <a:rPr lang="en-US" err="1">
                <a:cs typeface="Calibri"/>
              </a:rPr>
              <a:t>Dicheng</a:t>
            </a:r>
            <a:r>
              <a:rPr lang="en-US">
                <a:cs typeface="Calibri"/>
              </a:rPr>
              <a:t> Chen, Geng Tu, Teng Zhou, Akhil Garg, Liang Gao, "A probability and integrated learning based classification algorithm for high-level human emotion recognition problems," Measurement, vol. 150, 2020, Article 107049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957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Office Theme</vt:lpstr>
      <vt:lpstr>PowerPoint Presentation</vt:lpstr>
      <vt:lpstr>Introduction</vt:lpstr>
      <vt:lpstr>Literature review</vt:lpstr>
      <vt:lpstr>Aim and Objective</vt:lpstr>
      <vt:lpstr>Proposed Architecture</vt:lpstr>
      <vt:lpstr>Methodology</vt:lpstr>
      <vt:lpstr>Results</vt:lpstr>
      <vt:lpstr>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NISHANT NN</cp:lastModifiedBy>
  <cp:revision>2</cp:revision>
  <dcterms:created xsi:type="dcterms:W3CDTF">2023-03-21T09:02:13Z</dcterms:created>
  <dcterms:modified xsi:type="dcterms:W3CDTF">2024-04-29T18:24:52Z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2023-01-17T00:00:00Z</vt:filetime>
  </property>
  <property fmtid="{D5CDD505-2E9C-101B-9397-08002B2CF9AE}" pid="3" name="LastSaved">
    <vt:filetime>2023-03-21T00:00:00Z</vt:filetime>
  </property>
</Properties>
</file>